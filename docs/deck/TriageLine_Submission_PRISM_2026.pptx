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8" r:id="rId13"/>
    <p:sldId id="266" r:id="rId14"/>
    <p:sldId id="267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7F09707-B424-4B9A-26E0-95AA46ED3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>
            <a:extLst>
              <a:ext uri="{FF2B5EF4-FFF2-40B4-BE49-F238E27FC236}">
                <a16:creationId xmlns:a16="http://schemas.microsoft.com/office/drawing/2014/main" id="{3DAA134F-D1B6-F523-0640-68CB878EF7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:notes">
            <a:extLst>
              <a:ext uri="{FF2B5EF4-FFF2-40B4-BE49-F238E27FC236}">
                <a16:creationId xmlns:a16="http://schemas.microsoft.com/office/drawing/2014/main" id="{F2A40F8E-DED7-12E5-A78A-BF751952B5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833987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D2D85F0-0A69-90A1-9881-89637A7EF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>
            <a:extLst>
              <a:ext uri="{FF2B5EF4-FFF2-40B4-BE49-F238E27FC236}">
                <a16:creationId xmlns:a16="http://schemas.microsoft.com/office/drawing/2014/main" id="{67B6BF03-FBB3-9221-0B2C-584680ED1E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:notes">
            <a:extLst>
              <a:ext uri="{FF2B5EF4-FFF2-40B4-BE49-F238E27FC236}">
                <a16:creationId xmlns:a16="http://schemas.microsoft.com/office/drawing/2014/main" id="{097EDE87-1D35-B0C6-8B23-41CAA2B97D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22946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RomitDeokar/TriageLine" TargetMode="External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D9D3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D28D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SAMSUNG PRISM</a:t>
            </a:r>
            <a:endParaRPr sz="11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14142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Generative AI</a:t>
            </a:r>
            <a:endParaRPr sz="50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6D28D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Hackathon</a:t>
            </a:r>
            <a:endParaRPr sz="50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14142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3rd Edition</a:t>
            </a:r>
            <a:r>
              <a:rPr lang="en-US" sz="2000" b="0" i="0" u="none" strike="noStrike" cap="none">
                <a:solidFill>
                  <a:srgbClr val="63637E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  2026 – 27</a:t>
            </a:r>
            <a:endParaRPr sz="25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39" y="3310127"/>
            <a:ext cx="6606787" cy="3130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lvl="0" indent="-177800">
              <a:lnSpc>
                <a:spcPct val="150000"/>
              </a:lnSpc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Theme ID -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Theme 05: Interruptible Real-Time Agents</a:t>
            </a:r>
          </a:p>
          <a:p>
            <a:pPr marL="177800" lvl="0" indent="-177800">
              <a:lnSpc>
                <a:spcPct val="150000"/>
              </a:lnSpc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Team Name - </a:t>
            </a:r>
            <a:r>
              <a:rPr 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TriageLine</a:t>
            </a: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77800" lvl="0" indent="-177800">
              <a:lnSpc>
                <a:spcPct val="150000"/>
              </a:lnSpc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College Name –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SRM Institute of Science and Technology</a:t>
            </a:r>
          </a:p>
          <a:p>
            <a:pPr marL="177800" lvl="0" indent="-177800">
              <a:lnSpc>
                <a:spcPct val="150000"/>
              </a:lnSpc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Member Name &amp; Email 1 –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Rian k Sinu           -    rs7067@srmist.edu.in</a:t>
            </a:r>
          </a:p>
          <a:p>
            <a:pPr marL="177800" lvl="0" indent="-177800">
              <a:lnSpc>
                <a:spcPct val="150000"/>
              </a:lnSpc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Member Name &amp; Email 2 –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Romit </a:t>
            </a:r>
            <a:r>
              <a:rPr 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Deokar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      -    rd3432@srmist.edu.in</a:t>
            </a:r>
          </a:p>
          <a:p>
            <a:pPr marL="177800" lvl="0" indent="-177800">
              <a:lnSpc>
                <a:spcPct val="150000"/>
              </a:lnSpc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Member Name &amp; Email 3 –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Pragalbh Rai         -    pr2231@srmist.edu.in</a:t>
            </a:r>
          </a:p>
          <a:p>
            <a:pPr marL="177800" lvl="0" indent="-177800">
              <a:lnSpc>
                <a:spcPct val="150000"/>
              </a:lnSpc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Member Name &amp; Email 4 –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Manmohan Singh -    ms5592@srmist.edu.in</a:t>
            </a:r>
          </a:p>
          <a:p>
            <a:pPr marL="177800" lvl="0" indent="-177800">
              <a:lnSpc>
                <a:spcPct val="150000"/>
              </a:lnSpc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Submission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Github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link -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  <a:hlinkClick r:id="rId3"/>
              </a:rPr>
              <a:t>TriageLine</a:t>
            </a:r>
            <a:endParaRPr sz="160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96" name="Google Shape;96;p1" descr="hero_networ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57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704EA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Theme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Google Shape;102;p2"/>
          <p:cNvSpPr txBox="1">
            <a:spLocks noGrp="1"/>
          </p:cNvSpPr>
          <p:nvPr>
            <p:ph type="body" idx="1"/>
          </p:nvPr>
        </p:nvSpPr>
        <p:spPr>
          <a:xfrm>
            <a:off x="838200" y="1147197"/>
            <a:ext cx="10515600" cy="4929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-228600" algn="just">
              <a:lnSpc>
                <a:spcPct val="160000"/>
              </a:lnSpc>
              <a:spcBef>
                <a:spcPts val="600"/>
              </a:spcBef>
              <a:buClr>
                <a:srgbClr val="704EA6"/>
              </a:buClr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Theme 05: Interruptible Real-Time Agents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build a voice-native agent that keeps working while the user interrupts, hesitates and corrects themselves.</a:t>
            </a:r>
          </a:p>
          <a:p>
            <a:pPr marL="228600" indent="-228600" algn="just">
              <a:lnSpc>
                <a:spcPct val="160000"/>
              </a:lnSpc>
              <a:spcBef>
                <a:spcPts val="600"/>
              </a:spcBef>
              <a:buClr>
                <a:srgbClr val="704EA6"/>
              </a:buClr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standard assistants are half-duplex (listen → think → speak). Real callers interrupt and change their mind mid-sentence, and today's assistants fall apart when they do.</a:t>
            </a:r>
          </a:p>
          <a:p>
            <a:pPr marL="228600" indent="-228600" algn="just">
              <a:lnSpc>
                <a:spcPct val="160000"/>
              </a:lnSpc>
              <a:spcBef>
                <a:spcPts val="600"/>
              </a:spcBef>
              <a:buClr>
                <a:srgbClr val="704EA6"/>
              </a:buClr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capabilities required at once:</a:t>
            </a:r>
          </a:p>
          <a:p>
            <a:pPr marL="457200" lvl="1" indent="-200000" algn="just">
              <a:lnSpc>
                <a:spcPct val="160000"/>
              </a:lnSpc>
              <a:spcBef>
                <a:spcPts val="100"/>
              </a:spcBef>
              <a:buClr>
                <a:srgbClr val="704EA6"/>
              </a:buClr>
              <a:buFont typeface="Arial"/>
              <a:buChar char="–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Stay responsive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spoken feedback within a few hundred </a:t>
            </a:r>
            <a:r>
              <a:rPr lang="en-US" sz="1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no dead air and no false "done!" claims.</a:t>
            </a:r>
          </a:p>
          <a:p>
            <a:pPr marL="457200" lvl="1" indent="-200000" algn="just">
              <a:lnSpc>
                <a:spcPct val="160000"/>
              </a:lnSpc>
              <a:spcBef>
                <a:spcPts val="100"/>
              </a:spcBef>
              <a:buClr>
                <a:srgbClr val="704EA6"/>
              </a:buClr>
              <a:buFont typeface="Arial"/>
              <a:buChar char="–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asynchronously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tool calls, perception and reasoning run in the background and never block the conversation.</a:t>
            </a:r>
          </a:p>
          <a:p>
            <a:pPr marL="457200" lvl="1" indent="-200000" algn="just">
              <a:lnSpc>
                <a:spcPct val="160000"/>
              </a:lnSpc>
              <a:spcBef>
                <a:spcPts val="100"/>
              </a:spcBef>
              <a:buClr>
                <a:srgbClr val="704EA6"/>
              </a:buClr>
              <a:buFont typeface="Arial"/>
              <a:buChar char="–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Recover cleanly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discard stale intent on a correction, update tool arguments, never perform the same state-changing action twice.</a:t>
            </a:r>
          </a:p>
          <a:p>
            <a:pPr marL="228600" indent="-228600" algn="just">
              <a:lnSpc>
                <a:spcPct val="160000"/>
              </a:lnSpc>
              <a:spcBef>
                <a:spcPts val="600"/>
              </a:spcBef>
              <a:buClr>
                <a:srgbClr val="704EA6"/>
              </a:buClr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Benchmark: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Full-Duplex-Bench v3 (FDB-v3) via </a:t>
            </a:r>
            <a:r>
              <a:rPr lang="en-US" sz="1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LiveKit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100 real human recordings, 5 disfluency types (filler, pause, hesitation, false start, self-correction), 12 mock tools in 4 domains, chains of 1–3 calls.</a:t>
            </a:r>
          </a:p>
          <a:p>
            <a:pPr marL="228600" indent="-228600" algn="just">
              <a:lnSpc>
                <a:spcPct val="160000"/>
              </a:lnSpc>
              <a:spcBef>
                <a:spcPts val="600"/>
              </a:spcBef>
              <a:buClr>
                <a:srgbClr val="704EA6"/>
              </a:buClr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extension use case: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Triage Line – roadside / incident triage on the same </a:t>
            </a:r>
            <a:r>
              <a:rPr lang="en-US" sz="1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LiveKit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agent shell.</a:t>
            </a:r>
          </a:p>
          <a:p>
            <a:pPr marL="228600" lvl="0" indent="-508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704EA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Existing Solutions &amp; Gaps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Google Shape;108;p3"/>
          <p:cNvSpPr txBox="1">
            <a:spLocks noGrp="1"/>
          </p:cNvSpPr>
          <p:nvPr>
            <p:ph type="body" idx="1"/>
          </p:nvPr>
        </p:nvSpPr>
        <p:spPr>
          <a:xfrm>
            <a:off x="838200" y="1699828"/>
            <a:ext cx="4254910" cy="4477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just">
              <a:lnSpc>
                <a:spcPct val="170000"/>
              </a:lnSpc>
              <a:spcBef>
                <a:spcPts val="600"/>
              </a:spcBef>
              <a:buNone/>
            </a:pPr>
            <a:r>
              <a:rPr lang="en-US" sz="15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</a:t>
            </a:r>
          </a:p>
          <a:p>
            <a:pPr marL="228600" indent="-228600" algn="just">
              <a:lnSpc>
                <a:spcPct val="170000"/>
              </a:lnSpc>
              <a:spcBef>
                <a:spcPts val="600"/>
              </a:spcBef>
              <a:buClr>
                <a:srgbClr val="704EA6"/>
              </a:buClr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Half-duplex assistants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listen, then think, then speak; a barge-in is ignored or restarts the turn.</a:t>
            </a:r>
          </a:p>
          <a:p>
            <a:pPr marL="228600" indent="-228600" algn="just">
              <a:lnSpc>
                <a:spcPct val="170000"/>
              </a:lnSpc>
              <a:spcBef>
                <a:spcPts val="600"/>
              </a:spcBef>
              <a:buClr>
                <a:srgbClr val="704EA6"/>
              </a:buClr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Native </a:t>
            </a:r>
            <a:r>
              <a:rPr lang="en-US" sz="1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realtime</a:t>
            </a: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speech models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(GPT-Realtime, Gemini Live) – the published FDB-v3 baselines.</a:t>
            </a:r>
          </a:p>
          <a:p>
            <a:pPr marL="228600" indent="-228600" algn="just">
              <a:lnSpc>
                <a:spcPct val="170000"/>
              </a:lnSpc>
              <a:spcBef>
                <a:spcPts val="600"/>
              </a:spcBef>
              <a:buClr>
                <a:srgbClr val="704EA6"/>
              </a:buClr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Cascaded Whisper → LLM → TTS pipelines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the third published baseline; every stage waits for the previous one.</a:t>
            </a:r>
          </a:p>
          <a:p>
            <a:pPr marL="228600" indent="-228600" algn="just">
              <a:lnSpc>
                <a:spcPct val="170000"/>
              </a:lnSpc>
              <a:spcBef>
                <a:spcPts val="600"/>
              </a:spcBef>
              <a:buClr>
                <a:srgbClr val="704EA6"/>
              </a:buClr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LLM-planner-only agents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flexible, but slow and non-deterministic on multi-step tool chains.</a:t>
            </a:r>
          </a:p>
          <a:p>
            <a:pPr marL="228600" lvl="0" indent="-50800" algn="just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2EA56D-7FB6-0655-B1A2-EB5330B7403C}"/>
              </a:ext>
            </a:extLst>
          </p:cNvPr>
          <p:cNvSpPr txBox="1"/>
          <p:nvPr/>
        </p:nvSpPr>
        <p:spPr>
          <a:xfrm>
            <a:off x="5614218" y="1825625"/>
            <a:ext cx="6034549" cy="4667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1500" b="1" dirty="0">
                <a:solidFill>
                  <a:srgbClr val="7030A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Gaps we address</a:t>
            </a:r>
          </a:p>
          <a:p>
            <a:pPr marL="228600" indent="-228600" algn="just">
              <a:lnSpc>
                <a:spcPct val="150000"/>
              </a:lnSpc>
              <a:spcBef>
                <a:spcPts val="6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Self-corrections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("Tuesday… no, Wednesday") are where every published system loses points.</a:t>
            </a:r>
          </a:p>
          <a:p>
            <a:pPr marL="228600" indent="-228600" algn="just">
              <a:lnSpc>
                <a:spcPct val="150000"/>
              </a:lnSpc>
              <a:spcBef>
                <a:spcPts val="6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Multi-step tool chains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break when an early value changes mid-utterance.</a:t>
            </a:r>
          </a:p>
          <a:p>
            <a:pPr marL="228600" indent="-228600" algn="just">
              <a:lnSpc>
                <a:spcPct val="150000"/>
              </a:lnSpc>
              <a:spcBef>
                <a:spcPts val="6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Stale work keeps running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after the user changes their mind; results arrive late and are spoken as fact.</a:t>
            </a:r>
          </a:p>
          <a:p>
            <a:pPr marL="228600" indent="-228600" algn="just">
              <a:lnSpc>
                <a:spcPct val="150000"/>
              </a:lnSpc>
              <a:spcBef>
                <a:spcPts val="6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State-changing calls get duplicated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or their late outcome is silently lost.</a:t>
            </a:r>
          </a:p>
          <a:p>
            <a:pPr marL="228600" indent="-228600" algn="just">
              <a:lnSpc>
                <a:spcPct val="150000"/>
              </a:lnSpc>
              <a:spcBef>
                <a:spcPts val="6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Consequential actions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(dispatch, escalation) run on a misheard or superseded request, with no safe confirmation step.</a:t>
            </a:r>
          </a:p>
          <a:p>
            <a:pPr marL="228600" indent="-228600" algn="just">
              <a:lnSpc>
                <a:spcPct val="150000"/>
              </a:lnSpc>
              <a:spcBef>
                <a:spcPts val="6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Dead air or false "done!"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while slow tools (up to ~14 s) are still running.</a:t>
            </a:r>
          </a:p>
          <a:p>
            <a:pPr algn="just">
              <a:lnSpc>
                <a:spcPct val="150000"/>
              </a:lnSpc>
            </a:pPr>
            <a:endParaRPr lang="en-IN"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909917" y="266513"/>
            <a:ext cx="10515600" cy="883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704EA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Our Solutions &amp; Architecture Diagram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Google Shape;114;p4">
            <a:extLst>
              <a:ext uri="{FF2B5EF4-FFF2-40B4-BE49-F238E27FC236}">
                <a16:creationId xmlns:a16="http://schemas.microsoft.com/office/drawing/2014/main" id="{B2B9E797-2281-ABC0-D0E9-DC47268ECA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3950000"/>
            <a:ext cx="10515600" cy="25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28600" indent="-228600" algn="just">
              <a:lnSpc>
                <a:spcPct val="150000"/>
              </a:lnSpc>
              <a:spcBef>
                <a:spcPts val="3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Fast path (&lt;5 </a:t>
            </a:r>
            <a:r>
              <a:rPr lang="en-US" sz="1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ms</a:t>
            </a: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):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self-repair-aware parsing (last correction wins); classifies a barge-in as revise / retract / intent-switch; speaks an acknowledgement and cuts agent speech on VAD onset.</a:t>
            </a:r>
          </a:p>
          <a:p>
            <a:pPr marL="228600" indent="-228600" algn="just">
              <a:lnSpc>
                <a:spcPct val="150000"/>
              </a:lnSpc>
              <a:spcBef>
                <a:spcPts val="3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Slow path: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every tool call is its own </a:t>
            </a:r>
            <a:r>
              <a:rPr lang="en-US" sz="15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asyncio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task, so STT, TTS and tools never block the conversation.</a:t>
            </a:r>
          </a:p>
          <a:p>
            <a:pPr marL="228600" indent="-228600" algn="just">
              <a:lnSpc>
                <a:spcPct val="150000"/>
              </a:lnSpc>
              <a:spcBef>
                <a:spcPts val="3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Coordination: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an epoch counter is bumped on every correction; stale results are dropped or re-validated against the slots they depended on.</a:t>
            </a:r>
          </a:p>
          <a:p>
            <a:pPr marL="228600" indent="-228600" algn="just">
              <a:lnSpc>
                <a:spcPct val="150000"/>
              </a:lnSpc>
              <a:spcBef>
                <a:spcPts val="3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State-change safety: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an operation ledger per idempotency key – no duplicate commit, no auto-retry of an unknown outcome, late results reconciled truthfully.</a:t>
            </a:r>
          </a:p>
          <a:p>
            <a:pPr marL="228600" indent="-228600" algn="just">
              <a:lnSpc>
                <a:spcPct val="150000"/>
              </a:lnSpc>
              <a:spcBef>
                <a:spcPts val="3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Deterministic core: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rules-first understanding; the optional LLM planner is schema-validated and OFF in the scored run.</a:t>
            </a:r>
          </a:p>
        </p:txBody>
      </p:sp>
      <p:sp>
        <p:nvSpPr>
          <p:cNvPr id="16" name="Rounded Rectangle 114">
            <a:extLst>
              <a:ext uri="{FF2B5EF4-FFF2-40B4-BE49-F238E27FC236}">
                <a16:creationId xmlns:a16="http://schemas.microsoft.com/office/drawing/2014/main" id="{A978F4BD-3249-B278-22F3-B2A262361764}"/>
              </a:ext>
            </a:extLst>
          </p:cNvPr>
          <p:cNvSpPr/>
          <p:nvPr/>
        </p:nvSpPr>
        <p:spPr>
          <a:xfrm>
            <a:off x="838200" y="1375536"/>
            <a:ext cx="1500000" cy="900000"/>
          </a:xfrm>
          <a:prstGeom prst="roundRect">
            <a:avLst>
              <a:gd name="adj" fmla="val 12000"/>
            </a:avLst>
          </a:prstGeom>
          <a:solidFill>
            <a:srgbClr val="EEE8FB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30000" rIns="50000" bIns="30000" rtlCol="0" anchor="ctr"/>
          <a:lstStyle/>
          <a:p>
            <a:pPr algn="ctr"/>
            <a:r>
              <a:rPr b="1">
                <a:solidFill>
                  <a:srgbClr val="1F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Caller /</a:t>
            </a:r>
          </a:p>
          <a:p>
            <a:pPr algn="ctr"/>
            <a:r>
              <a:rPr b="0">
                <a:solidFill>
                  <a:srgbClr val="1F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FDB-v3 input.wav</a:t>
            </a:r>
          </a:p>
        </p:txBody>
      </p:sp>
      <p:sp>
        <p:nvSpPr>
          <p:cNvPr id="17" name="Rounded Rectangle 116">
            <a:extLst>
              <a:ext uri="{FF2B5EF4-FFF2-40B4-BE49-F238E27FC236}">
                <a16:creationId xmlns:a16="http://schemas.microsoft.com/office/drawing/2014/main" id="{294C9BE8-FF3C-65A1-1497-A086FD6E2AF2}"/>
              </a:ext>
            </a:extLst>
          </p:cNvPr>
          <p:cNvSpPr/>
          <p:nvPr/>
        </p:nvSpPr>
        <p:spPr>
          <a:xfrm>
            <a:off x="2641320" y="1375536"/>
            <a:ext cx="1500000" cy="900000"/>
          </a:xfrm>
          <a:prstGeom prst="roundRect">
            <a:avLst>
              <a:gd name="adj" fmla="val 12000"/>
            </a:avLst>
          </a:prstGeom>
          <a:solidFill>
            <a:srgbClr val="EEE8FB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30000" rIns="50000" bIns="30000" rtlCol="0" anchor="ctr"/>
          <a:lstStyle/>
          <a:p>
            <a:pPr algn="ctr"/>
            <a:r>
              <a:rPr b="1">
                <a:solidFill>
                  <a:srgbClr val="1F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Silero VAD</a:t>
            </a:r>
          </a:p>
          <a:p>
            <a:pPr algn="ctr"/>
            <a:r>
              <a:rPr b="0">
                <a:solidFill>
                  <a:srgbClr val="1F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turn detector</a:t>
            </a:r>
          </a:p>
        </p:txBody>
      </p:sp>
      <p:sp>
        <p:nvSpPr>
          <p:cNvPr id="18" name="Rounded Rectangle 118">
            <a:extLst>
              <a:ext uri="{FF2B5EF4-FFF2-40B4-BE49-F238E27FC236}">
                <a16:creationId xmlns:a16="http://schemas.microsoft.com/office/drawing/2014/main" id="{E3AA9765-03AE-A624-DF1C-94EF027B69BB}"/>
              </a:ext>
            </a:extLst>
          </p:cNvPr>
          <p:cNvSpPr/>
          <p:nvPr/>
        </p:nvSpPr>
        <p:spPr>
          <a:xfrm>
            <a:off x="4444440" y="1375536"/>
            <a:ext cx="1500000" cy="900000"/>
          </a:xfrm>
          <a:prstGeom prst="roundRect">
            <a:avLst>
              <a:gd name="adj" fmla="val 12000"/>
            </a:avLst>
          </a:prstGeom>
          <a:solidFill>
            <a:srgbClr val="EEE8FB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30000" rIns="50000" bIns="30000" rtlCol="0" anchor="ctr"/>
          <a:lstStyle/>
          <a:p>
            <a:pPr algn="ctr"/>
            <a:r>
              <a:rPr b="1" dirty="0">
                <a:solidFill>
                  <a:srgbClr val="1F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STT</a:t>
            </a:r>
          </a:p>
          <a:p>
            <a:pPr algn="ctr"/>
            <a:r>
              <a:rPr b="0" dirty="0" err="1">
                <a:solidFill>
                  <a:srgbClr val="1F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Deepgram</a:t>
            </a:r>
            <a:r>
              <a:rPr b="0" dirty="0">
                <a:solidFill>
                  <a:srgbClr val="1F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nova-3 | Gemini</a:t>
            </a:r>
          </a:p>
        </p:txBody>
      </p:sp>
      <p:sp>
        <p:nvSpPr>
          <p:cNvPr id="19" name="Rounded Rectangle 120">
            <a:extLst>
              <a:ext uri="{FF2B5EF4-FFF2-40B4-BE49-F238E27FC236}">
                <a16:creationId xmlns:a16="http://schemas.microsoft.com/office/drawing/2014/main" id="{9240BD52-75F3-7A90-5D34-9678B38B13D1}"/>
              </a:ext>
            </a:extLst>
          </p:cNvPr>
          <p:cNvSpPr/>
          <p:nvPr/>
        </p:nvSpPr>
        <p:spPr>
          <a:xfrm>
            <a:off x="6247560" y="1375536"/>
            <a:ext cx="1500000" cy="900000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30000" rIns="50000" bIns="30000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TriageAdapter</a:t>
            </a:r>
          </a:p>
          <a:p>
            <a:pPr algn="ctr"/>
            <a:r>
              <a:rPr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commit gate · barge-in ·</a:t>
            </a:r>
          </a:p>
          <a:p>
            <a:pPr algn="ctr"/>
            <a:r>
              <a:rPr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async tool tasks</a:t>
            </a:r>
          </a:p>
        </p:txBody>
      </p:sp>
      <p:sp>
        <p:nvSpPr>
          <p:cNvPr id="20" name="Rounded Rectangle 122">
            <a:extLst>
              <a:ext uri="{FF2B5EF4-FFF2-40B4-BE49-F238E27FC236}">
                <a16:creationId xmlns:a16="http://schemas.microsoft.com/office/drawing/2014/main" id="{3C8E39D2-2EE4-9938-7790-10181F6DBBBB}"/>
              </a:ext>
            </a:extLst>
          </p:cNvPr>
          <p:cNvSpPr/>
          <p:nvPr/>
        </p:nvSpPr>
        <p:spPr>
          <a:xfrm>
            <a:off x="8050680" y="1375536"/>
            <a:ext cx="1500000" cy="900000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30000" rIns="50000" bIns="30000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ParticipantAgent</a:t>
            </a:r>
          </a:p>
          <a:p>
            <a:pPr algn="ctr"/>
            <a:r>
              <a:rPr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 · SLOW · COORD</a:t>
            </a:r>
          </a:p>
          <a:p>
            <a:pPr algn="ctr"/>
            <a:r>
              <a:rPr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(epoch + ledger)</a:t>
            </a:r>
          </a:p>
        </p:txBody>
      </p:sp>
      <p:sp>
        <p:nvSpPr>
          <p:cNvPr id="21" name="Rounded Rectangle 124">
            <a:extLst>
              <a:ext uri="{FF2B5EF4-FFF2-40B4-BE49-F238E27FC236}">
                <a16:creationId xmlns:a16="http://schemas.microsoft.com/office/drawing/2014/main" id="{2C70F1A0-3F82-C90E-14CE-E5F1D31159EA}"/>
              </a:ext>
            </a:extLst>
          </p:cNvPr>
          <p:cNvSpPr/>
          <p:nvPr/>
        </p:nvSpPr>
        <p:spPr>
          <a:xfrm>
            <a:off x="9853800" y="1375536"/>
            <a:ext cx="1500000" cy="900000"/>
          </a:xfrm>
          <a:prstGeom prst="roundRect">
            <a:avLst>
              <a:gd name="adj" fmla="val 12000"/>
            </a:avLst>
          </a:prstGeom>
          <a:solidFill>
            <a:srgbClr val="EEE8FB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30000" rIns="50000" bIns="30000" rtlCol="0" anchor="ctr"/>
          <a:lstStyle/>
          <a:p>
            <a:pPr algn="ctr"/>
            <a:r>
              <a:rPr b="1">
                <a:solidFill>
                  <a:srgbClr val="1F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TTS</a:t>
            </a:r>
          </a:p>
          <a:p>
            <a:pPr algn="ctr"/>
            <a:r>
              <a:rPr b="0">
                <a:solidFill>
                  <a:srgbClr val="1F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Deepgram aura-2 | Gemini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4B0797-CA87-7A17-C6D9-C23492DFBBD7}"/>
              </a:ext>
            </a:extLst>
          </p:cNvPr>
          <p:cNvSpPr txBox="1"/>
          <p:nvPr/>
        </p:nvSpPr>
        <p:spPr>
          <a:xfrm>
            <a:off x="9648250" y="2295536"/>
            <a:ext cx="191110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>
                <a:solidFill>
                  <a:srgbClr val="6D28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agent audio to caller</a:t>
            </a:r>
          </a:p>
        </p:txBody>
      </p:sp>
      <p:sp>
        <p:nvSpPr>
          <p:cNvPr id="23" name="Rounded Rectangle 126">
            <a:extLst>
              <a:ext uri="{FF2B5EF4-FFF2-40B4-BE49-F238E27FC236}">
                <a16:creationId xmlns:a16="http://schemas.microsoft.com/office/drawing/2014/main" id="{F038312A-5035-ED27-159A-D688F71CB1AB}"/>
              </a:ext>
            </a:extLst>
          </p:cNvPr>
          <p:cNvSpPr/>
          <p:nvPr/>
        </p:nvSpPr>
        <p:spPr>
          <a:xfrm>
            <a:off x="6247560" y="2675535"/>
            <a:ext cx="3303120" cy="108038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30000" rIns="50000" bIns="30000" rtlCol="0" anchor="ctr"/>
          <a:lstStyle/>
          <a:p>
            <a:pPr algn="ctr">
              <a:lnSpc>
                <a:spcPct val="150000"/>
              </a:lnSpc>
            </a:pPr>
            <a:r>
              <a:rPr sz="1200" b="1">
                <a:solidFill>
                  <a:srgbClr val="1F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Official FDB-v3 mock_apis.py (12 tools, fresh registry per room)</a:t>
            </a:r>
          </a:p>
          <a:p>
            <a:pPr algn="ctr">
              <a:lnSpc>
                <a:spcPct val="150000"/>
              </a:lnSpc>
            </a:pPr>
            <a:r>
              <a:rPr sz="1050" b="0">
                <a:solidFill>
                  <a:srgbClr val="1F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tool_call / cancel_tool  ⇄  tool_result tagged with call_id + epoch</a:t>
            </a:r>
          </a:p>
        </p:txBody>
      </p:sp>
      <p:sp>
        <p:nvSpPr>
          <p:cNvPr id="24" name="Up-Down Arrow 127">
            <a:extLst>
              <a:ext uri="{FF2B5EF4-FFF2-40B4-BE49-F238E27FC236}">
                <a16:creationId xmlns:a16="http://schemas.microsoft.com/office/drawing/2014/main" id="{250C4FD9-F906-B227-58BB-B06AE40CC92C}"/>
              </a:ext>
            </a:extLst>
          </p:cNvPr>
          <p:cNvSpPr/>
          <p:nvPr/>
        </p:nvSpPr>
        <p:spPr>
          <a:xfrm>
            <a:off x="6907560" y="2315536"/>
            <a:ext cx="180000" cy="320000"/>
          </a:xfrm>
          <a:prstGeom prst="upDownArrow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ounded Rectangle 128">
            <a:extLst>
              <a:ext uri="{FF2B5EF4-FFF2-40B4-BE49-F238E27FC236}">
                <a16:creationId xmlns:a16="http://schemas.microsoft.com/office/drawing/2014/main" id="{2F4F5324-88D3-2593-C60C-6B59F14377E0}"/>
              </a:ext>
            </a:extLst>
          </p:cNvPr>
          <p:cNvSpPr/>
          <p:nvPr/>
        </p:nvSpPr>
        <p:spPr>
          <a:xfrm>
            <a:off x="838200" y="2675535"/>
            <a:ext cx="5106240" cy="108038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3B5BD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30000" rIns="50000" bIns="30000" rtlCol="0" anchor="ctr"/>
          <a:lstStyle/>
          <a:p>
            <a:pPr algn="ctr">
              <a:lnSpc>
                <a:spcPct val="150000"/>
              </a:lnSpc>
            </a:pPr>
            <a:r>
              <a:rPr sz="1200" b="1">
                <a:solidFill>
                  <a:srgbClr val="1F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Extension · Triage Line (triage_livekit_agent.py)</a:t>
            </a:r>
          </a:p>
          <a:p>
            <a:pPr algn="ctr">
              <a:lnSpc>
                <a:spcPct val="150000"/>
              </a:lnSpc>
            </a:pPr>
            <a:r>
              <a:rPr sz="1050" b="0">
                <a:solidFill>
                  <a:srgbClr val="1F1F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triage_brain → Deliberation → Commit state machine (PROPOSED → PENDING_CONFIRMATION → FINALIZED / ABORTED) → SIMULATED dispatch log</a:t>
            </a:r>
          </a:p>
        </p:txBody>
      </p:sp>
      <p:sp>
        <p:nvSpPr>
          <p:cNvPr id="26" name="Up-Down Arrow 129">
            <a:extLst>
              <a:ext uri="{FF2B5EF4-FFF2-40B4-BE49-F238E27FC236}">
                <a16:creationId xmlns:a16="http://schemas.microsoft.com/office/drawing/2014/main" id="{81D7187D-2FF8-131D-81B2-C123E5E9660C}"/>
              </a:ext>
            </a:extLst>
          </p:cNvPr>
          <p:cNvSpPr/>
          <p:nvPr/>
        </p:nvSpPr>
        <p:spPr>
          <a:xfrm>
            <a:off x="5104440" y="2315536"/>
            <a:ext cx="180000" cy="320000"/>
          </a:xfrm>
          <a:prstGeom prst="upDownArrow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0E81C2-4101-4C4E-2D92-DE3E688971F3}"/>
              </a:ext>
            </a:extLst>
          </p:cNvPr>
          <p:cNvSpPr txBox="1"/>
          <p:nvPr/>
        </p:nvSpPr>
        <p:spPr>
          <a:xfrm>
            <a:off x="9853800" y="2675536"/>
            <a:ext cx="1500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i="1">
                <a:solidFill>
                  <a:srgbClr val="6D28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Telemetry: per-turn latency + tool-call logs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9;p5">
            <a:extLst>
              <a:ext uri="{FF2B5EF4-FFF2-40B4-BE49-F238E27FC236}">
                <a16:creationId xmlns:a16="http://schemas.microsoft.com/office/drawing/2014/main" id="{E8752381-E51E-8565-CCB7-75F7111FD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873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704EA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Demo &amp; Product Walkthrough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Google Shape;120;p5">
            <a:extLst>
              <a:ext uri="{FF2B5EF4-FFF2-40B4-BE49-F238E27FC236}">
                <a16:creationId xmlns:a16="http://schemas.microsoft.com/office/drawing/2014/main" id="{9BF0178A-AB11-D95E-D650-BDF570D7EA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15845"/>
            <a:ext cx="10515600" cy="498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28600" indent="-228600" algn="just">
              <a:lnSpc>
                <a:spcPct val="150000"/>
              </a:lnSpc>
              <a:spcBef>
                <a:spcPts val="3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6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1. Reproduce FDB-v3 in one command:</a:t>
            </a:r>
            <a:r>
              <a:rPr lang="en-US" sz="165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PYTHON=python3.12 ./run_fdb_v3.sh --require-judge – installs, configures, runs the official runner and evaluators, and fails loudly on any stale or partial result.</a:t>
            </a:r>
          </a:p>
          <a:p>
            <a:pPr marL="228600" indent="-228600" algn="just">
              <a:lnSpc>
                <a:spcPct val="150000"/>
              </a:lnSpc>
              <a:spcBef>
                <a:spcPts val="3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6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2. Real interruption on the benchmark:</a:t>
            </a:r>
            <a:r>
              <a:rPr lang="en-US" sz="165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a recording with a self-correction; </a:t>
            </a:r>
            <a:r>
              <a:rPr lang="en-US" sz="165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result_triageline.json</a:t>
            </a:r>
            <a:r>
              <a:rPr lang="en-US" sz="165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shows the corrected tool call.</a:t>
            </a:r>
          </a:p>
          <a:p>
            <a:pPr marL="228600" indent="-228600" algn="just">
              <a:lnSpc>
                <a:spcPct val="150000"/>
              </a:lnSpc>
              <a:spcBef>
                <a:spcPts val="3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6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3. PWA interruption (recorded, docs/video/pwa_interrupt.mp4):</a:t>
            </a:r>
            <a:r>
              <a:rPr lang="en-US" sz="165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request → barge-in correction → stale flight search cancelled → corrected booking → same-breath "actually, don't do that" performs nothing.</a:t>
            </a:r>
          </a:p>
          <a:p>
            <a:pPr marL="228600" indent="-228600" algn="just">
              <a:lnSpc>
                <a:spcPct val="150000"/>
              </a:lnSpc>
              <a:spcBef>
                <a:spcPts val="3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6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4. Triage Line, live at /</a:t>
            </a:r>
            <a:r>
              <a:rPr lang="en-US" sz="165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rtc.html?flow</a:t>
            </a:r>
            <a:r>
              <a:rPr lang="en-US" sz="16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=triage:</a:t>
            </a:r>
          </a:p>
          <a:p>
            <a:pPr marL="457200" lvl="1" indent="-200000" algn="just">
              <a:lnSpc>
                <a:spcPct val="150000"/>
              </a:lnSpc>
              <a:spcBef>
                <a:spcPts val="100"/>
              </a:spcBef>
              <a:buClr>
                <a:srgbClr val="704EA6"/>
              </a:buClr>
              <a:buFont typeface="Arial"/>
              <a:buChar char="–"/>
            </a:pPr>
            <a:r>
              <a:rPr lang="en-US" sz="155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Caller: "My car broke down near Highway 9."  Agent: "I'll dispatch a tow truck to Highway 9. Should I go ahead?"</a:t>
            </a:r>
          </a:p>
          <a:p>
            <a:pPr marL="457200" lvl="1" indent="-200000" algn="just">
              <a:lnSpc>
                <a:spcPct val="150000"/>
              </a:lnSpc>
              <a:spcBef>
                <a:spcPts val="100"/>
              </a:spcBef>
              <a:buClr>
                <a:srgbClr val="704EA6"/>
              </a:buClr>
              <a:buFont typeface="Arial"/>
              <a:buChar char="–"/>
            </a:pPr>
            <a:r>
              <a:rPr lang="en-US" sz="155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Caller interrupts: "Actually, I'm on Highway 12." → agent stops speaking, aborts the Highway 9 action, re-deliberates and proposes Highway 12.</a:t>
            </a:r>
          </a:p>
          <a:p>
            <a:pPr marL="457200" lvl="1" indent="-200000" algn="just">
              <a:lnSpc>
                <a:spcPct val="150000"/>
              </a:lnSpc>
              <a:spcBef>
                <a:spcPts val="100"/>
              </a:spcBef>
              <a:buClr>
                <a:srgbClr val="704EA6"/>
              </a:buClr>
              <a:buFont typeface="Arial"/>
              <a:buChar char="–"/>
            </a:pPr>
            <a:r>
              <a:rPr lang="en-US" sz="155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Caller: "Yes, go ahead." → only Highway 12 is dispatched (SIMULATED). On disconnect, any pending action is force-aborted.</a:t>
            </a:r>
          </a:p>
          <a:p>
            <a:pPr marL="228600" indent="-228600" algn="just">
              <a:lnSpc>
                <a:spcPct val="150000"/>
              </a:lnSpc>
              <a:spcBef>
                <a:spcPts val="3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6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5. Safety:</a:t>
            </a:r>
            <a:r>
              <a:rPr lang="en-US" sz="165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nothing finalizes without an explicit "yes"; a correction always aborts the stale proposal.</a:t>
            </a:r>
          </a:p>
          <a:p>
            <a:pPr marL="228600" indent="-228600" algn="just">
              <a:lnSpc>
                <a:spcPct val="150000"/>
              </a:lnSpc>
              <a:spcBef>
                <a:spcPts val="3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6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Demo video (max 5 min):</a:t>
            </a:r>
            <a:r>
              <a:rPr lang="en-US" sz="165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[paste YouTube / Drive link]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5;p6">
            <a:extLst>
              <a:ext uri="{FF2B5EF4-FFF2-40B4-BE49-F238E27FC236}">
                <a16:creationId xmlns:a16="http://schemas.microsoft.com/office/drawing/2014/main" id="{458A7F3D-0B4A-057D-6FF0-B605EAFDA4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5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 dirty="0">
                <a:solidFill>
                  <a:srgbClr val="704EA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Tools and tech stack used</a:t>
            </a:r>
            <a:endParaRPr b="1" dirty="0">
              <a:solidFill>
                <a:srgbClr val="704E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126;p6">
            <a:extLst>
              <a:ext uri="{FF2B5EF4-FFF2-40B4-BE49-F238E27FC236}">
                <a16:creationId xmlns:a16="http://schemas.microsoft.com/office/drawing/2014/main" id="{0B58569E-6D68-4578-A8F7-0479750ED9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700000"/>
            <a:ext cx="5132800" cy="4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indent="0" algn="just">
              <a:lnSpc>
                <a:spcPct val="150000"/>
              </a:lnSpc>
              <a:spcBef>
                <a:spcPts val="450"/>
              </a:spcBef>
              <a:buNone/>
            </a:pPr>
            <a:r>
              <a:rPr lang="en-US" sz="19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Voice runtime &amp; speech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7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LiveKit</a:t>
            </a: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Agents 1.8.3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(WebRTC) – custom cascaded agent; Python 3.10–3.12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7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Silero</a:t>
            </a: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VAD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+ </a:t>
            </a:r>
            <a:r>
              <a:rPr lang="en-US" sz="17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LiveKit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semantic turn-detector for end-of-turn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7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Deepgram</a:t>
            </a: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nova-3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(streaming STT) and </a:t>
            </a: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aura-2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(TTS); </a:t>
            </a: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Gemini flash-lite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as fallback</a:t>
            </a:r>
          </a:p>
          <a:p>
            <a:pPr marL="0" indent="0" algn="just">
              <a:lnSpc>
                <a:spcPct val="150000"/>
              </a:lnSpc>
              <a:spcBef>
                <a:spcPts val="450"/>
              </a:spcBef>
              <a:buNone/>
            </a:pPr>
            <a:r>
              <a:rPr lang="en-US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Understanding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Custom rules-based </a:t>
            </a:r>
            <a:r>
              <a:rPr lang="en-US" sz="17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ParticipantAgent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(schema-driven, deterministic)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Optional LLM planner: Gemini → Cerebras → </a:t>
            </a:r>
            <a:r>
              <a:rPr lang="en-US" sz="17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OpenRouter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→ Mistral (T=0, seed 7, schema-validated)</a:t>
            </a:r>
          </a:p>
        </p:txBody>
      </p:sp>
      <p:sp>
        <p:nvSpPr>
          <p:cNvPr id="6" name="Column 902">
            <a:extLst>
              <a:ext uri="{FF2B5EF4-FFF2-40B4-BE49-F238E27FC236}">
                <a16:creationId xmlns:a16="http://schemas.microsoft.com/office/drawing/2014/main" id="{6E2E51A7-17BA-65BA-4453-E34AA9EFF51D}"/>
              </a:ext>
            </a:extLst>
          </p:cNvPr>
          <p:cNvSpPr txBox="1"/>
          <p:nvPr/>
        </p:nvSpPr>
        <p:spPr>
          <a:xfrm>
            <a:off x="6221000" y="1700000"/>
            <a:ext cx="5132800" cy="4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indent="0" algn="just">
              <a:lnSpc>
                <a:spcPct val="150000"/>
              </a:lnSpc>
              <a:spcBef>
                <a:spcPts val="450"/>
              </a:spcBef>
              <a:buNone/>
            </a:pPr>
            <a:r>
              <a:rPr lang="en-US" sz="1900" b="1" dirty="0">
                <a:solidFill>
                  <a:srgbClr val="7030A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Benchmark &amp; backend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Full-Duplex-Bench v3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pinned at commit 3e799c45; official evaluators; GPT-4o judge; </a:t>
            </a:r>
            <a:r>
              <a:rPr lang="en-US" sz="1700" b="0" dirty="0" err="1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NeMo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ASR (parakeet)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700" b="1" dirty="0" err="1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FastAPI</a:t>
            </a: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+ </a:t>
            </a:r>
            <a:r>
              <a:rPr lang="en-US" sz="1700" b="1" dirty="0" err="1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Uvicorn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gateway; token API for native </a:t>
            </a:r>
            <a:r>
              <a:rPr lang="en-US" sz="1700" b="0" dirty="0" err="1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LiveKit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SDKs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Mobile PWA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(text, voice clips, camera frames) and /rtc.html WebRTC voice client</a:t>
            </a:r>
          </a:p>
          <a:p>
            <a:pPr marL="0" indent="0" algn="just">
              <a:lnSpc>
                <a:spcPct val="150000"/>
              </a:lnSpc>
              <a:spcBef>
                <a:spcPts val="450"/>
              </a:spcBef>
              <a:buNone/>
            </a:pPr>
            <a:r>
              <a:rPr lang="en-US" sz="19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DevOps &amp; quality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Docker + docker-compose; one-command reproduction script (run_fdb_v3.sh)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700" b="0" dirty="0" err="1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pytest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(224 tests) + 10 JS tests; CI template; integrity-audit script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1;p7">
            <a:extLst>
              <a:ext uri="{FF2B5EF4-FFF2-40B4-BE49-F238E27FC236}">
                <a16:creationId xmlns:a16="http://schemas.microsoft.com/office/drawing/2014/main" id="{D53E909C-DC50-4390-EE93-0B2575D0D1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 dirty="0">
                <a:solidFill>
                  <a:srgbClr val="704EA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Impact &amp; Use case</a:t>
            </a:r>
            <a:endParaRPr b="1" dirty="0">
              <a:solidFill>
                <a:srgbClr val="704E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132;p7">
            <a:extLst>
              <a:ext uri="{FF2B5EF4-FFF2-40B4-BE49-F238E27FC236}">
                <a16:creationId xmlns:a16="http://schemas.microsoft.com/office/drawing/2014/main" id="{EDEE40A2-0E2B-E1F1-2357-C9510FD56F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700000"/>
            <a:ext cx="5646080" cy="4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indent="0" algn="just">
              <a:lnSpc>
                <a:spcPct val="150000"/>
              </a:lnSpc>
              <a:spcBef>
                <a:spcPts val="550"/>
              </a:spcBef>
              <a:buNone/>
            </a:pPr>
            <a:r>
              <a:rPr lang="en-US" sz="19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Use case: Triage Line – roadside / incident triage</a:t>
            </a:r>
          </a:p>
          <a:p>
            <a:pPr marL="228600" indent="-228600" algn="just">
              <a:lnSpc>
                <a:spcPct val="170000"/>
              </a:lnSpc>
              <a:spcBef>
                <a:spcPts val="5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A caller reports a breakdown or incident; the agent asks </a:t>
            </a: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only what it needs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(location, hazards, injuries).</a:t>
            </a:r>
          </a:p>
          <a:p>
            <a:pPr marL="228600" indent="-228600" algn="just">
              <a:lnSpc>
                <a:spcPct val="150000"/>
              </a:lnSpc>
              <a:spcBef>
                <a:spcPts val="5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Deliberates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before any consequential action: tow dispatch for a breakdown, </a:t>
            </a: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emergency escalation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when a hazard is reported.</a:t>
            </a:r>
          </a:p>
          <a:p>
            <a:pPr marL="228600" indent="-228600" algn="just">
              <a:lnSpc>
                <a:spcPct val="150000"/>
              </a:lnSpc>
              <a:spcBef>
                <a:spcPts val="5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Every action runs through a </a:t>
            </a: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two-phase commit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: PROPOSED → PENDING_CONFIRMATION → FINALIZED / ABORTED.</a:t>
            </a:r>
          </a:p>
          <a:p>
            <a:pPr marL="228600" indent="-228600" algn="just">
              <a:lnSpc>
                <a:spcPct val="150000"/>
              </a:lnSpc>
              <a:spcBef>
                <a:spcPts val="5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A mid-prompt correction (</a:t>
            </a: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"no, I'm past exit 12"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) aborts the stale proposal and re-deliberates.</a:t>
            </a:r>
          </a:p>
          <a:p>
            <a:pPr marL="228600" indent="-228600" algn="just">
              <a:lnSpc>
                <a:spcPct val="150000"/>
              </a:lnSpc>
              <a:spcBef>
                <a:spcPts val="5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Runs end to end in the same </a:t>
            </a:r>
            <a:r>
              <a:rPr lang="en-US" sz="17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LiveKit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shell as the benchmark worker. </a:t>
            </a: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All actions are simulated.</a:t>
            </a:r>
          </a:p>
        </p:txBody>
      </p:sp>
      <p:sp>
        <p:nvSpPr>
          <p:cNvPr id="6" name="Column 903">
            <a:extLst>
              <a:ext uri="{FF2B5EF4-FFF2-40B4-BE49-F238E27FC236}">
                <a16:creationId xmlns:a16="http://schemas.microsoft.com/office/drawing/2014/main" id="{9793CF68-0758-BF3E-4D86-B70BEA18E9FA}"/>
              </a:ext>
            </a:extLst>
          </p:cNvPr>
          <p:cNvSpPr txBox="1"/>
          <p:nvPr/>
        </p:nvSpPr>
        <p:spPr>
          <a:xfrm>
            <a:off x="6734280" y="1700000"/>
            <a:ext cx="4848120" cy="4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indent="0" algn="just">
              <a:lnSpc>
                <a:spcPct val="170000"/>
              </a:lnSpc>
              <a:spcBef>
                <a:spcPts val="550"/>
              </a:spcBef>
              <a:buNone/>
            </a:pPr>
            <a:r>
              <a:rPr lang="en-US" sz="1900" b="1" dirty="0">
                <a:solidFill>
                  <a:srgbClr val="7030A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Impact</a:t>
            </a:r>
          </a:p>
          <a:p>
            <a:pPr marL="228600" indent="-228600" algn="just">
              <a:lnSpc>
                <a:spcPct val="170000"/>
              </a:lnSpc>
              <a:spcBef>
                <a:spcPts val="5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No wrong-location dispatch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– corrections abort stale actions and re-plan.</a:t>
            </a:r>
          </a:p>
          <a:p>
            <a:pPr marL="228600" indent="-228600" algn="just">
              <a:lnSpc>
                <a:spcPct val="170000"/>
              </a:lnSpc>
              <a:spcBef>
                <a:spcPts val="5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No unconfirmed or duplicate actions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in noisy, stressful calls.</a:t>
            </a:r>
          </a:p>
          <a:p>
            <a:pPr marL="228600" indent="-228600" algn="just">
              <a:lnSpc>
                <a:spcPct val="170000"/>
              </a:lnSpc>
              <a:spcBef>
                <a:spcPts val="5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Hands-free, voice-first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– suited to drivers and people in distress.</a:t>
            </a:r>
          </a:p>
          <a:p>
            <a:pPr marL="228600" indent="-228600" algn="just">
              <a:lnSpc>
                <a:spcPct val="170000"/>
              </a:lnSpc>
              <a:spcBef>
                <a:spcPts val="5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Nothing left dangling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– </a:t>
            </a:r>
            <a:r>
              <a:rPr lang="en-US" sz="1700" b="0" dirty="0" err="1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force_resolve_pending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() ends every call with all actions in a terminal state.</a:t>
            </a:r>
          </a:p>
          <a:p>
            <a:pPr marL="228600" indent="-228600" algn="just">
              <a:lnSpc>
                <a:spcPct val="170000"/>
              </a:lnSpc>
              <a:spcBef>
                <a:spcPts val="5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Reusable pattern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– the same interruptible, confirm-before-acting core fits in-car assistants, customer-support bots and booking agents.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7;p8">
            <a:extLst>
              <a:ext uri="{FF2B5EF4-FFF2-40B4-BE49-F238E27FC236}">
                <a16:creationId xmlns:a16="http://schemas.microsoft.com/office/drawing/2014/main" id="{4AFB541D-0F8A-A9BA-AFF1-FA2F4D63F4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139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 dirty="0">
                <a:solidFill>
                  <a:srgbClr val="704EA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Innovation highlights, results and limitations</a:t>
            </a:r>
            <a:endParaRPr sz="4400" b="1" dirty="0">
              <a:solidFill>
                <a:srgbClr val="704E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138;p8">
            <a:extLst>
              <a:ext uri="{FF2B5EF4-FFF2-40B4-BE49-F238E27FC236}">
                <a16:creationId xmlns:a16="http://schemas.microsoft.com/office/drawing/2014/main" id="{3485F471-FD29-9FEF-485F-DDD1A0E942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649999"/>
            <a:ext cx="3371866" cy="4947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just">
              <a:lnSpc>
                <a:spcPct val="150000"/>
              </a:lnSpc>
              <a:spcBef>
                <a:spcPts val="450"/>
              </a:spcBef>
              <a:buNone/>
            </a:pPr>
            <a:r>
              <a:rPr lang="en-US" sz="15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Innovation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Epoch-guarded cancellation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of stale work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Operation ledger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– idempotent state changes, truthful late-result reconciliation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Commit gate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merges </a:t>
            </a:r>
            <a:r>
              <a:rPr lang="en-US" sz="15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endpointer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-split speech; a VAD onset re-arms the timer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Two-phase confirmation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with abort on correction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Schema-driven rules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handle unseen tools zero-shot</a:t>
            </a:r>
          </a:p>
        </p:txBody>
      </p:sp>
      <p:sp>
        <p:nvSpPr>
          <p:cNvPr id="6" name="Column 904">
            <a:extLst>
              <a:ext uri="{FF2B5EF4-FFF2-40B4-BE49-F238E27FC236}">
                <a16:creationId xmlns:a16="http://schemas.microsoft.com/office/drawing/2014/main" id="{8CF1B22E-AAF8-3B05-6B10-02A1270480B0}"/>
              </a:ext>
            </a:extLst>
          </p:cNvPr>
          <p:cNvSpPr txBox="1"/>
          <p:nvPr/>
        </p:nvSpPr>
        <p:spPr>
          <a:xfrm>
            <a:off x="4410066" y="1650000"/>
            <a:ext cx="3371866" cy="4947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just">
              <a:lnSpc>
                <a:spcPct val="150000"/>
              </a:lnSpc>
              <a:spcBef>
                <a:spcPts val="450"/>
              </a:spcBef>
              <a:buNone/>
            </a:pPr>
            <a:r>
              <a:rPr lang="en-US" sz="1500" b="1" dirty="0">
                <a:solidFill>
                  <a:srgbClr val="7030A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Results (mode stated)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Offline text replay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(diagnostic, judge off): </a:t>
            </a: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91/100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strict; tool-selection 98.6%; argument acc. 93.7%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Held-out paraphrase set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(rules only): </a:t>
            </a: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29/30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Live </a:t>
            </a:r>
            <a:r>
              <a:rPr lang="en-US" sz="1500" b="1" dirty="0" err="1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LiveKit</a:t>
            </a: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run, 4 Oct 2026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(</a:t>
            </a:r>
            <a:r>
              <a:rPr lang="en-US" sz="1500" b="0" dirty="0" err="1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Deepgram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, judge off): turn-take 99/100; tool-selection 86.4%; argument acc. 55.2%; strict pass 45/100; avg latency 5.01 s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Engineering: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224 Python + 10 JS tests pass; integrity audit PASS</a:t>
            </a:r>
          </a:p>
        </p:txBody>
      </p:sp>
      <p:sp>
        <p:nvSpPr>
          <p:cNvPr id="7" name="Column 905">
            <a:extLst>
              <a:ext uri="{FF2B5EF4-FFF2-40B4-BE49-F238E27FC236}">
                <a16:creationId xmlns:a16="http://schemas.microsoft.com/office/drawing/2014/main" id="{0A111A72-00A7-DEFF-8353-EFD0D613A61A}"/>
              </a:ext>
            </a:extLst>
          </p:cNvPr>
          <p:cNvSpPr txBox="1"/>
          <p:nvPr/>
        </p:nvSpPr>
        <p:spPr>
          <a:xfrm>
            <a:off x="7981932" y="1650000"/>
            <a:ext cx="3371866" cy="4947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just">
              <a:lnSpc>
                <a:spcPct val="150000"/>
              </a:lnSpc>
              <a:spcBef>
                <a:spcPts val="450"/>
              </a:spcBef>
              <a:buNone/>
            </a:pPr>
            <a:r>
              <a:rPr lang="en-US" sz="1500" b="1" dirty="0">
                <a:solidFill>
                  <a:srgbClr val="7030A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Limitations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Live gap is mainly </a:t>
            </a: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STT surface-form errors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and slow injected tool calls (13.8 s) that clipped 17 travel-domain responses in the runner's recording window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Judged live run not done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(no OpenAI key available)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All actions </a:t>
            </a: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simulated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– not an emergency service</a:t>
            </a:r>
          </a:p>
          <a:p>
            <a:pPr marL="228600" indent="-228600" algn="just">
              <a:lnSpc>
                <a:spcPct val="150000"/>
              </a:lnSpc>
              <a:spcBef>
                <a:spcPts val="45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Location extraction is regex/keyword based (no geocoding); sessions are process-local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3;p9">
            <a:extLst>
              <a:ext uri="{FF2B5EF4-FFF2-40B4-BE49-F238E27FC236}">
                <a16:creationId xmlns:a16="http://schemas.microsoft.com/office/drawing/2014/main" id="{BB97094C-66AB-B7E5-734A-064E643760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109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 dirty="0">
                <a:solidFill>
                  <a:srgbClr val="704EA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What’s next</a:t>
            </a:r>
            <a:endParaRPr sz="4400" b="1" dirty="0">
              <a:solidFill>
                <a:srgbClr val="704E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144;p9">
            <a:extLst>
              <a:ext uri="{FF2B5EF4-FFF2-40B4-BE49-F238E27FC236}">
                <a16:creationId xmlns:a16="http://schemas.microsoft.com/office/drawing/2014/main" id="{9B83D98B-7F9B-1CD7-95C4-4DA2FBC926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650000"/>
            <a:ext cx="10515600" cy="4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indent="-228600" algn="just">
              <a:lnSpc>
                <a:spcPct val="150000"/>
              </a:lnSpc>
              <a:spcBef>
                <a:spcPts val="7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Close the live-benchmark gap: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run the judged live FDB-v3 with team keys; stream STT partials into the commit gate; tune the settle timer; speak a truthful filler earlier while slow tools run.</a:t>
            </a:r>
          </a:p>
          <a:p>
            <a:pPr marL="228600" indent="-228600" algn="just">
              <a:lnSpc>
                <a:spcPct val="150000"/>
              </a:lnSpc>
              <a:spcBef>
                <a:spcPts val="7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STT-error-tolerant matching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for spelled IDs, fillers and self-corrections.</a:t>
            </a:r>
          </a:p>
          <a:p>
            <a:pPr marL="228600" indent="-228600" algn="just">
              <a:lnSpc>
                <a:spcPct val="150000"/>
              </a:lnSpc>
              <a:spcBef>
                <a:spcPts val="7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Real integrations for Triage Line: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CAD, tow and emergency-services APIs, plus geocoding for locations.</a:t>
            </a:r>
          </a:p>
          <a:p>
            <a:pPr marL="228600" indent="-228600" algn="just">
              <a:lnSpc>
                <a:spcPct val="150000"/>
              </a:lnSpc>
              <a:spcBef>
                <a:spcPts val="7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Production readiness: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user identity, persistent multi-replica sessions, and a native mobile app on the </a:t>
            </a:r>
            <a:r>
              <a:rPr lang="en-US" sz="18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LiveKit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SDK.</a:t>
            </a:r>
          </a:p>
          <a:p>
            <a:pPr marL="228600" indent="-228600" algn="just">
              <a:lnSpc>
                <a:spcPct val="150000"/>
              </a:lnSpc>
              <a:spcBef>
                <a:spcPts val="7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Live-room validation: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barge-in, mid-sentence correction and disconnect/rejoin tests with real callers; confirm zero duplicate state changes in the tool log.</a:t>
            </a:r>
          </a:p>
          <a:p>
            <a:pPr marL="228600" indent="-228600" algn="just">
              <a:lnSpc>
                <a:spcPct val="150000"/>
              </a:lnSpc>
              <a:spcBef>
                <a:spcPts val="7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Broader domains: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in-car destination change, device troubleshooting with a camera frame, hands-free assistants.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9;p10">
            <a:extLst>
              <a:ext uri="{FF2B5EF4-FFF2-40B4-BE49-F238E27FC236}">
                <a16:creationId xmlns:a16="http://schemas.microsoft.com/office/drawing/2014/main" id="{6AC86B2D-E733-78A8-4C63-029C641A14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28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 dirty="0">
                <a:solidFill>
                  <a:srgbClr val="704EA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Brownie points slide( differentiation)</a:t>
            </a:r>
            <a:endParaRPr sz="4400" b="1" dirty="0">
              <a:solidFill>
                <a:srgbClr val="704E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150;p10">
            <a:extLst>
              <a:ext uri="{FF2B5EF4-FFF2-40B4-BE49-F238E27FC236}">
                <a16:creationId xmlns:a16="http://schemas.microsoft.com/office/drawing/2014/main" id="{D0E1BC75-98E1-502F-CB96-AFCBA92A5E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650000"/>
            <a:ext cx="10515600" cy="4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indent="-228600" algn="just">
              <a:lnSpc>
                <a:spcPct val="150000"/>
              </a:lnSpc>
              <a:spcBef>
                <a:spcPts val="8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Safety-first by design: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nothing finalizes without an explicit "yes", no duplicate state changes, no false "done". Seven confirmation-safety probes (E-01…E-07) are pinned as regression tests.</a:t>
            </a:r>
          </a:p>
          <a:p>
            <a:pPr marL="228600" indent="-228600" algn="just">
              <a:lnSpc>
                <a:spcPct val="150000"/>
              </a:lnSpc>
              <a:spcBef>
                <a:spcPts val="8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Honest evaluation: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every number states its mode; the offline replay is labelled diagnostic. A strict integrity audit found no benchmark phrasing in decision code, and the held-out set was never used to tune rules.</a:t>
            </a:r>
          </a:p>
          <a:p>
            <a:pPr marL="228600" indent="-228600" algn="just">
              <a:lnSpc>
                <a:spcPct val="150000"/>
              </a:lnSpc>
              <a:spcBef>
                <a:spcPts val="8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Schema-driven and zero-shot: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rules read tool schemas (types, </a:t>
            </a:r>
            <a:r>
              <a:rPr lang="en-US" sz="18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enums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, descriptions), so hidden or unseen tools work from the manifest alone – no scenario-keyed logic.</a:t>
            </a:r>
          </a:p>
          <a:p>
            <a:pPr marL="228600" indent="-228600" algn="just">
              <a:lnSpc>
                <a:spcPct val="150000"/>
              </a:lnSpc>
              <a:spcBef>
                <a:spcPts val="8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Deterministic and reproducible: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pinned versions and seeds, LLM planner off in the scored run, and one command that fails loudly instead of scoring a partial run.</a:t>
            </a:r>
          </a:p>
          <a:p>
            <a:pPr marL="228600" indent="-228600" algn="just">
              <a:lnSpc>
                <a:spcPct val="150000"/>
              </a:lnSpc>
              <a:spcBef>
                <a:spcPts val="800"/>
              </a:spcBef>
              <a:buClr>
                <a:srgbClr val="704EA6"/>
              </a:buClr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End to end, one shell: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the benchmark worker and the Triage Line extension share a </a:t>
            </a:r>
            <a:r>
              <a:rPr lang="en-US" sz="18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LiveKit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agent, with a mobile PWA and a token API for native apps.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8">
          <a:extLst>
            <a:ext uri="{FF2B5EF4-FFF2-40B4-BE49-F238E27FC236}">
              <a16:creationId xmlns:a16="http://schemas.microsoft.com/office/drawing/2014/main" id="{68FF3E95-DD4C-C0CE-CA21-AD9A389F2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FDD9E5-9725-D8AE-EE3F-EAE4925B9E12}"/>
              </a:ext>
            </a:extLst>
          </p:cNvPr>
          <p:cNvSpPr txBox="1"/>
          <p:nvPr/>
        </p:nvSpPr>
        <p:spPr>
          <a:xfrm>
            <a:off x="1001684" y="170412"/>
            <a:ext cx="10178934" cy="9111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 dirty="0">
                <a:solidFill>
                  <a:srgbClr val="7030A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Screenshot of the working prototype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2356D6-C333-FFE7-F7F7-A17790559C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126" b="3"/>
          <a:stretch>
            <a:fillRect/>
          </a:stretch>
        </p:blipFill>
        <p:spPr>
          <a:xfrm>
            <a:off x="149580" y="1663193"/>
            <a:ext cx="5803323" cy="38903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17DF1E7-163F-F902-818A-A25FAF8BF0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104" b="31736"/>
          <a:stretch>
            <a:fillRect/>
          </a:stretch>
        </p:blipFill>
        <p:spPr>
          <a:xfrm>
            <a:off x="6140773" y="1663193"/>
            <a:ext cx="5803323" cy="389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755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8">
          <a:extLst>
            <a:ext uri="{FF2B5EF4-FFF2-40B4-BE49-F238E27FC236}">
              <a16:creationId xmlns:a16="http://schemas.microsoft.com/office/drawing/2014/main" id="{3EB00DF4-FB48-6BF1-A331-5F80FF3FF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8E7FF5-782D-DED5-44C9-A568E26C90D8}"/>
              </a:ext>
            </a:extLst>
          </p:cNvPr>
          <p:cNvSpPr txBox="1"/>
          <p:nvPr/>
        </p:nvSpPr>
        <p:spPr>
          <a:xfrm>
            <a:off x="1001684" y="170412"/>
            <a:ext cx="10178934" cy="684994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>
                <a:solidFill>
                  <a:srgbClr val="7030A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Screenshot of the working prototype</a:t>
            </a:r>
            <a:endParaRPr lang="en-US" sz="4800" kern="1200" dirty="0">
              <a:solidFill>
                <a:srgbClr val="7030A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90B2052-9452-4C83-4E59-4F7640A87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442" y="1025818"/>
            <a:ext cx="5443255" cy="555277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EAAAF95-D832-CE11-084B-32DD4A0040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4323" y="1025818"/>
            <a:ext cx="5758523" cy="555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061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55;p11">
            <a:extLst>
              <a:ext uri="{FF2B5EF4-FFF2-40B4-BE49-F238E27FC236}">
                <a16:creationId xmlns:a16="http://schemas.microsoft.com/office/drawing/2014/main" id="{578B9414-5558-D6B9-986F-D8CA405488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Checklist- Updated on Public GitHub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155">
            <a:extLst>
              <a:ext uri="{FF2B5EF4-FFF2-40B4-BE49-F238E27FC236}">
                <a16:creationId xmlns:a16="http://schemas.microsoft.com/office/drawing/2014/main" id="{F634AB59-BB51-F0C0-6FCD-4375699F9506}"/>
              </a:ext>
            </a:extLst>
          </p:cNvPr>
          <p:cNvSpPr/>
          <p:nvPr/>
        </p:nvSpPr>
        <p:spPr>
          <a:xfrm>
            <a:off x="838200" y="1650000"/>
            <a:ext cx="10515600" cy="1000000"/>
          </a:xfrm>
          <a:prstGeom prst="roundRect">
            <a:avLst>
              <a:gd name="adj" fmla="val 6000"/>
            </a:avLst>
          </a:prstGeom>
          <a:solidFill>
            <a:srgbClr val="EE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0" tIns="100000" rIns="120000" bIns="60000" rtlCol="0" anchor="t"/>
          <a:lstStyle/>
          <a:p>
            <a:pPr algn="l">
              <a:spcBef>
                <a:spcPts val="400"/>
              </a:spcBef>
            </a:pPr>
            <a:r>
              <a:rPr sz="2074" b="0">
                <a:solidFill>
                  <a:srgbClr val="6363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prototype code – public or shared GitHub repo (Y/N)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5ADF3E3-79E1-6014-8E89-F78B6CD971F2}"/>
              </a:ext>
            </a:extLst>
          </p:cNvPr>
          <p:cNvSpPr/>
          <p:nvPr/>
        </p:nvSpPr>
        <p:spPr>
          <a:xfrm>
            <a:off x="988200" y="1930000"/>
            <a:ext cx="440000" cy="44000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52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9" name="Rounded Rectangle 157">
            <a:extLst>
              <a:ext uri="{FF2B5EF4-FFF2-40B4-BE49-F238E27FC236}">
                <a16:creationId xmlns:a16="http://schemas.microsoft.com/office/drawing/2014/main" id="{83352527-B5BF-D7BF-AA9F-1B8126774974}"/>
              </a:ext>
            </a:extLst>
          </p:cNvPr>
          <p:cNvSpPr/>
          <p:nvPr/>
        </p:nvSpPr>
        <p:spPr>
          <a:xfrm>
            <a:off x="9053800" y="1900000"/>
            <a:ext cx="2100000" cy="500000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3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sp>
        <p:nvSpPr>
          <p:cNvPr id="10" name="Rounded Rectangle 158">
            <a:extLst>
              <a:ext uri="{FF2B5EF4-FFF2-40B4-BE49-F238E27FC236}">
                <a16:creationId xmlns:a16="http://schemas.microsoft.com/office/drawing/2014/main" id="{E03AAC39-822C-148D-6306-C0644B27C884}"/>
              </a:ext>
            </a:extLst>
          </p:cNvPr>
          <p:cNvSpPr/>
          <p:nvPr/>
        </p:nvSpPr>
        <p:spPr>
          <a:xfrm>
            <a:off x="838200" y="2800000"/>
            <a:ext cx="10515600" cy="1000000"/>
          </a:xfrm>
          <a:prstGeom prst="roundRect">
            <a:avLst>
              <a:gd name="adj" fmla="val 6000"/>
            </a:avLst>
          </a:prstGeom>
          <a:solidFill>
            <a:srgbClr val="EE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0" tIns="100000" rIns="120000" bIns="60000" rtlCol="0" anchor="t"/>
          <a:lstStyle/>
          <a:p>
            <a:pPr algn="l">
              <a:spcBef>
                <a:spcPts val="400"/>
              </a:spcBef>
            </a:pPr>
            <a:r>
              <a:rPr sz="2074" b="0">
                <a:solidFill>
                  <a:srgbClr val="6363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README with reproducible setup instructions (Y/N)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975775-1ED6-CA20-BABC-BA14C41CCD19}"/>
              </a:ext>
            </a:extLst>
          </p:cNvPr>
          <p:cNvSpPr/>
          <p:nvPr/>
        </p:nvSpPr>
        <p:spPr>
          <a:xfrm>
            <a:off x="988200" y="3080000"/>
            <a:ext cx="440000" cy="44000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52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12" name="Rounded Rectangle 160">
            <a:extLst>
              <a:ext uri="{FF2B5EF4-FFF2-40B4-BE49-F238E27FC236}">
                <a16:creationId xmlns:a16="http://schemas.microsoft.com/office/drawing/2014/main" id="{DA94B3C4-F609-D977-8B23-079119697DF6}"/>
              </a:ext>
            </a:extLst>
          </p:cNvPr>
          <p:cNvSpPr/>
          <p:nvPr/>
        </p:nvSpPr>
        <p:spPr>
          <a:xfrm>
            <a:off x="9053800" y="3050000"/>
            <a:ext cx="2100000" cy="500000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3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sp>
        <p:nvSpPr>
          <p:cNvPr id="13" name="Rounded Rectangle 161">
            <a:extLst>
              <a:ext uri="{FF2B5EF4-FFF2-40B4-BE49-F238E27FC236}">
                <a16:creationId xmlns:a16="http://schemas.microsoft.com/office/drawing/2014/main" id="{888B4F3E-9089-2D96-F503-EDDB081C34CF}"/>
              </a:ext>
            </a:extLst>
          </p:cNvPr>
          <p:cNvSpPr/>
          <p:nvPr/>
        </p:nvSpPr>
        <p:spPr>
          <a:xfrm>
            <a:off x="838200" y="3950000"/>
            <a:ext cx="10515600" cy="1000000"/>
          </a:xfrm>
          <a:prstGeom prst="roundRect">
            <a:avLst>
              <a:gd name="adj" fmla="val 6000"/>
            </a:avLst>
          </a:prstGeom>
          <a:solidFill>
            <a:srgbClr val="EE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0" tIns="100000" rIns="120000" bIns="60000" rtlCol="0" anchor="t"/>
          <a:lstStyle/>
          <a:p>
            <a:pPr algn="l">
              <a:spcBef>
                <a:spcPts val="400"/>
              </a:spcBef>
            </a:pPr>
            <a:r>
              <a:rPr sz="2074" b="0">
                <a:solidFill>
                  <a:srgbClr val="6363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 video, max 5 minutes (YouTube or Drive link)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CAE5D1-C21B-7164-B7B5-15C6A63E4490}"/>
              </a:ext>
            </a:extLst>
          </p:cNvPr>
          <p:cNvSpPr/>
          <p:nvPr/>
        </p:nvSpPr>
        <p:spPr>
          <a:xfrm>
            <a:off x="988200" y="4230000"/>
            <a:ext cx="440000" cy="44000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52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15" name="Rounded Rectangle 163">
            <a:extLst>
              <a:ext uri="{FF2B5EF4-FFF2-40B4-BE49-F238E27FC236}">
                <a16:creationId xmlns:a16="http://schemas.microsoft.com/office/drawing/2014/main" id="{B8392D25-D309-F087-024C-A6E3DED1733F}"/>
              </a:ext>
            </a:extLst>
          </p:cNvPr>
          <p:cNvSpPr/>
          <p:nvPr/>
        </p:nvSpPr>
        <p:spPr>
          <a:xfrm>
            <a:off x="9053800" y="4200000"/>
            <a:ext cx="2100000" cy="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30" b="1">
                <a:solidFill>
                  <a:srgbClr val="6D28D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[paste link]</a:t>
            </a:r>
          </a:p>
        </p:txBody>
      </p:sp>
      <p:sp>
        <p:nvSpPr>
          <p:cNvPr id="16" name="Rounded Rectangle 164">
            <a:extLst>
              <a:ext uri="{FF2B5EF4-FFF2-40B4-BE49-F238E27FC236}">
                <a16:creationId xmlns:a16="http://schemas.microsoft.com/office/drawing/2014/main" id="{3F0797BB-4040-D607-2397-00CEA57E7380}"/>
              </a:ext>
            </a:extLst>
          </p:cNvPr>
          <p:cNvSpPr/>
          <p:nvPr/>
        </p:nvSpPr>
        <p:spPr>
          <a:xfrm>
            <a:off x="838200" y="5100000"/>
            <a:ext cx="10515600" cy="1000000"/>
          </a:xfrm>
          <a:prstGeom prst="roundRect">
            <a:avLst>
              <a:gd name="adj" fmla="val 6000"/>
            </a:avLst>
          </a:prstGeom>
          <a:solidFill>
            <a:srgbClr val="EE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0" tIns="100000" rIns="120000" bIns="60000" rtlCol="0" anchor="t"/>
          <a:lstStyle/>
          <a:p>
            <a:pPr algn="l">
              <a:spcBef>
                <a:spcPts val="400"/>
              </a:spcBef>
            </a:pPr>
            <a:r>
              <a:rPr sz="2074" b="0">
                <a:solidFill>
                  <a:srgbClr val="6363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file (PPT or PDF) (Y/N)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7589C52-EC85-C51B-9235-F653D3671DB8}"/>
              </a:ext>
            </a:extLst>
          </p:cNvPr>
          <p:cNvSpPr/>
          <p:nvPr/>
        </p:nvSpPr>
        <p:spPr>
          <a:xfrm>
            <a:off x="988200" y="5380000"/>
            <a:ext cx="440000" cy="44000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52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18" name="Rounded Rectangle 166">
            <a:extLst>
              <a:ext uri="{FF2B5EF4-FFF2-40B4-BE49-F238E27FC236}">
                <a16:creationId xmlns:a16="http://schemas.microsoft.com/office/drawing/2014/main" id="{F4CF67C8-4CF6-C863-7B56-F91A7F7352CB}"/>
              </a:ext>
            </a:extLst>
          </p:cNvPr>
          <p:cNvSpPr/>
          <p:nvPr/>
        </p:nvSpPr>
        <p:spPr>
          <a:xfrm>
            <a:off x="9053800" y="5350000"/>
            <a:ext cx="2100000" cy="500000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3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lang="en-US" sz="4600" b="1" i="0" u="none" strike="noStrike" cap="none">
                <a:solidFill>
                  <a:srgbClr val="14142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Thank you</a:t>
            </a:r>
            <a:endParaRPr sz="46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3637E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Organised by the Language AI Team and the PRISM Team, Samsung R&amp;D Institute India</a:t>
            </a:r>
            <a:endParaRPr sz="11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1968</Words>
  <Application>Microsoft Office PowerPoint</Application>
  <PresentationFormat>Widescreen</PresentationFormat>
  <Paragraphs>148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Presentation</vt:lpstr>
      <vt:lpstr>Theme</vt:lpstr>
      <vt:lpstr>Existing Solutions &amp; Gaps</vt:lpstr>
      <vt:lpstr>Our Solutions &amp; Architecture Diagram</vt:lpstr>
      <vt:lpstr>Demo &amp; Product Walkthrough</vt:lpstr>
      <vt:lpstr>Tools and tech stack used</vt:lpstr>
      <vt:lpstr>Impact &amp; Use case</vt:lpstr>
      <vt:lpstr>Innovation highlights, results and limitations</vt:lpstr>
      <vt:lpstr>What’s next</vt:lpstr>
      <vt:lpstr>Brownie points slide( differentiation)</vt:lpstr>
      <vt:lpstr>PowerPoint Presentation</vt:lpstr>
      <vt:lpstr>PowerPoint Presentation</vt:lpstr>
      <vt:lpstr>Checklist- Updated on Public GitHub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Binny Lakra/PRISM /SRI-Bangalore/Professional/Samsung Electronics</dc:creator>
  <cp:lastModifiedBy>PRAGALBH RAI (RA2411003010631)</cp:lastModifiedBy>
  <cp:revision>3</cp:revision>
  <dcterms:created xsi:type="dcterms:W3CDTF">2026-09-07T12:01:01Z</dcterms:created>
  <dcterms:modified xsi:type="dcterms:W3CDTF">2026-09-30T12:30:54Z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